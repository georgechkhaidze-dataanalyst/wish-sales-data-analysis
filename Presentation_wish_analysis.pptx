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5697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365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14630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25603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36576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51760" y="365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51760" y="14630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51760" y="25603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51760" y="36576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31920" y="365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31920" y="14630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31920" y="25603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31920" y="36576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12080" y="365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12080" y="14630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12080" y="25603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12080" y="36576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365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14630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25603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92240" y="36576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0" y="36576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0" y="146304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0" y="256032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0" y="3657600"/>
            <a:ext cx="54864" cy="5486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5029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0C9A7"/>
                </a:solidFill>
              </a:rPr>
              <a:t>DATA-DRIVEN E-COMMERCE RESEARCH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0040" y="10058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 Platform</a:t>
            </a:r>
            <a:endParaRPr lang="en-US" sz="5400" dirty="0"/>
          </a:p>
        </p:txBody>
      </p:sp>
      <p:sp>
        <p:nvSpPr>
          <p:cNvPr id="29" name="Text 27"/>
          <p:cNvSpPr/>
          <p:nvPr/>
        </p:nvSpPr>
        <p:spPr>
          <a:xfrm>
            <a:off x="320040" y="1691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Analysis</a:t>
            </a:r>
            <a:endParaRPr lang="en-US" sz="5400" dirty="0"/>
          </a:p>
        </p:txBody>
      </p:sp>
      <p:sp>
        <p:nvSpPr>
          <p:cNvPr id="30" name="Shape 28"/>
          <p:cNvSpPr/>
          <p:nvPr/>
        </p:nvSpPr>
        <p:spPr>
          <a:xfrm>
            <a:off x="320040" y="2606040"/>
            <a:ext cx="4114800" cy="3657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27889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B0BEC5"/>
                </a:solidFill>
              </a:rPr>
              <a:t>გაყიდვების ზრდის გადამწყვეტი ფაქტორების გამოვლინება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B0BEC5"/>
                </a:solidFill>
              </a:rPr>
              <a:t>Winning Product Combination კვლევა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20040" y="3794760"/>
            <a:ext cx="1920240" cy="960120"/>
          </a:xfrm>
          <a:prstGeom prst="rect">
            <a:avLst/>
          </a:prstGeom>
          <a:solidFill>
            <a:srgbClr val="0F2744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3794760"/>
            <a:ext cx="54864" cy="9601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840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4FC3F7"/>
                </a:solidFill>
              </a:rPr>
              <a:t>1,341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457200" y="42702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BEC5"/>
                </a:solidFill>
              </a:rPr>
              <a:t>სულ პროდუქტი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468880" y="3794760"/>
            <a:ext cx="1920240" cy="960120"/>
          </a:xfrm>
          <a:prstGeom prst="rect">
            <a:avLst/>
          </a:prstGeom>
          <a:solidFill>
            <a:srgbClr val="0F2744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468880" y="3794760"/>
            <a:ext cx="54864" cy="9601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06040" y="3840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C9A7"/>
                </a:solidFill>
              </a:rPr>
              <a:t>6M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2606040" y="42702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BEC5"/>
                </a:solidFill>
              </a:rPr>
              <a:t>სულ გაყიდვები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17720" y="3794760"/>
            <a:ext cx="1920240" cy="960120"/>
          </a:xfrm>
          <a:prstGeom prst="rect">
            <a:avLst/>
          </a:prstGeom>
          <a:solidFill>
            <a:srgbClr val="0F2744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17720" y="3794760"/>
            <a:ext cx="54864" cy="9601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3840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B300"/>
                </a:solidFill>
              </a:rPr>
              <a:t>$8.46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4754880" y="42702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BEC5"/>
                </a:solidFill>
              </a:rPr>
              <a:t>საშ. ფასი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766560" y="3794760"/>
            <a:ext cx="1920240" cy="960120"/>
          </a:xfrm>
          <a:prstGeom prst="rect">
            <a:avLst/>
          </a:prstGeom>
          <a:solidFill>
            <a:srgbClr val="0F2744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766560" y="3794760"/>
            <a:ext cx="54864" cy="96012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03720" y="3840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F5350"/>
                </a:solidFill>
              </a:rPr>
              <a:t>5.8x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6903720" y="42702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BEC5"/>
                </a:solidFill>
              </a:rPr>
              <a:t>Ideal vs Other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58000" y="457200"/>
            <a:ext cx="2103120" cy="2926080"/>
          </a:xfrm>
          <a:prstGeom prst="rect">
            <a:avLst/>
          </a:prstGeom>
          <a:solidFill>
            <a:srgbClr val="0F2744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49440" y="7315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50" name="Text 48"/>
          <p:cNvSpPr/>
          <p:nvPr/>
        </p:nvSpPr>
        <p:spPr>
          <a:xfrm>
            <a:off x="6949440" y="137160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EAABF"/>
                </a:solidFill>
              </a:rPr>
              <a:t>Wish Platform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EAABF"/>
                </a:solidFill>
              </a:rPr>
              <a:t>Product Research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EAABF"/>
                </a:solidFill>
              </a:rPr>
              <a:t>2024</a:t>
            </a:r>
            <a:endParaRPr lang="ka-GE" sz="1200" dirty="0">
              <a:solidFill>
                <a:srgbClr val="8EAABF"/>
              </a:solidFill>
            </a:endParaRPr>
          </a:p>
          <a:p>
            <a:pPr marL="0" indent="0" algn="ctr">
              <a:buNone/>
            </a:pPr>
            <a:endParaRPr lang="ka-GE" sz="1200" dirty="0">
              <a:solidFill>
                <a:srgbClr val="8EAABF"/>
              </a:solidFill>
            </a:endParaRPr>
          </a:p>
          <a:p>
            <a:pPr algn="ctr"/>
            <a:r>
              <a:rPr lang="en-US" sz="1600" b="1" dirty="0">
                <a:solidFill>
                  <a:srgbClr val="FFFFFF"/>
                </a:solidFill>
              </a:rPr>
              <a:t>George </a:t>
            </a:r>
            <a:r>
              <a:rPr lang="en-US" sz="1600" b="1" dirty="0" err="1">
                <a:solidFill>
                  <a:srgbClr val="FFFFFF"/>
                </a:solidFill>
              </a:rPr>
              <a:t>Chkhaidze</a:t>
            </a:r>
            <a:endParaRPr lang="en-US" sz="1600" dirty="0"/>
          </a:p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914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4FC3F7"/>
                </a:solidFill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11887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200" dirty="0">
                <a:solidFill>
                  <a:srgbClr val="FFFFFF"/>
                </a:solidFill>
              </a:rPr>
              <a:t>MARKET OVERVIEW</a:t>
            </a:r>
            <a:endParaRPr lang="en-US" sz="1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685800"/>
            <a:ext cx="8814816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914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B300"/>
                </a:solidFill>
              </a:rPr>
              <a:t>02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11887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200" dirty="0">
                <a:solidFill>
                  <a:srgbClr val="FFFFFF"/>
                </a:solidFill>
              </a:rPr>
              <a:t>გამოკვლეული ფაქტორები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64592" y="777240"/>
            <a:ext cx="4297680" cy="1234440"/>
          </a:xfrm>
          <a:prstGeom prst="rect">
            <a:avLst/>
          </a:prstGeom>
          <a:solidFill>
            <a:srgbClr val="0F2744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777240"/>
            <a:ext cx="64008" cy="123444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22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50392" y="8503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B300"/>
                </a:solidFill>
              </a:rPr>
              <a:t>ფასი vs გაყიდვები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0392" y="1216152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BEC5"/>
                </a:solidFill>
              </a:rPr>
              <a:t>$5-$10 შუალედი — ყველაზე მაღალი საშ. გაყიდვები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36592" y="777240"/>
            <a:ext cx="4297680" cy="1234440"/>
          </a:xfrm>
          <a:prstGeom prst="rect">
            <a:avLst/>
          </a:prstGeom>
          <a:solidFill>
            <a:srgbClr val="0F2744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36592" y="777240"/>
            <a:ext cx="64008" cy="123444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822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22392" y="8503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F5350"/>
                </a:solidFill>
              </a:rPr>
              <a:t>ფასდაკლება ანალიზი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22392" y="1216152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BEC5"/>
                </a:solidFill>
              </a:rPr>
              <a:t>36% პროდუქტს გასაყიდი &gt; საცალო ფასი. ფასდაკლება გადამწყვეტი არ არის.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64592" y="2167128"/>
            <a:ext cx="4297680" cy="1234440"/>
          </a:xfrm>
          <a:prstGeom prst="rect">
            <a:avLst/>
          </a:prstGeom>
          <a:solidFill>
            <a:srgbClr val="0F2744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64592" y="2167128"/>
            <a:ext cx="64008" cy="1234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212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50392" y="22402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C9A7"/>
                </a:solidFill>
              </a:rPr>
              <a:t>პროდუქტის რეიტინგი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0392" y="26060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BEC5"/>
                </a:solidFill>
              </a:rPr>
              <a:t>3.8–4.1 რეიტინგი — გაყიდვების პიკი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36592" y="2167128"/>
            <a:ext cx="4297680" cy="1234440"/>
          </a:xfrm>
          <a:prstGeom prst="rect">
            <a:avLst/>
          </a:prstGeom>
          <a:solidFill>
            <a:srgbClr val="0F2744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36592" y="2167128"/>
            <a:ext cx="64008" cy="12344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212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🚚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422392" y="22402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FC3F7"/>
                </a:solidFill>
              </a:rPr>
              <a:t>შიპინგის ღირებულება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22392" y="26060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BEC5"/>
                </a:solidFill>
              </a:rPr>
              <a:t>$1-$3 — დაბალი შიპინგი ყველაზე ეფექტური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64592" y="3557016"/>
            <a:ext cx="4297680" cy="1234440"/>
          </a:xfrm>
          <a:prstGeom prst="rect">
            <a:avLst/>
          </a:prstGeom>
          <a:solidFill>
            <a:srgbClr val="0F2744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64592" y="3557016"/>
            <a:ext cx="64008" cy="123444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6027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🏪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50392" y="36301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6BB6A"/>
                </a:solidFill>
              </a:rPr>
              <a:t>მერჩანტის რეიტინგი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50392" y="399592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ka-GE" sz="1100" dirty="0">
              <a:solidFill>
                <a:srgbClr val="B0BEC5"/>
              </a:solidFill>
            </a:endParaRPr>
          </a:p>
          <a:p>
            <a:r>
              <a:rPr lang="en-US" sz="1100" dirty="0">
                <a:solidFill>
                  <a:srgbClr val="B0BEC5"/>
                </a:solidFill>
              </a:rPr>
              <a:t>4.0–4.49 შუალედი — </a:t>
            </a:r>
            <a:r>
              <a:rPr lang="en-US" sz="1100" dirty="0" err="1">
                <a:solidFill>
                  <a:srgbClr val="B0BEC5"/>
                </a:solidFill>
              </a:rPr>
              <a:t>დადებითი</a:t>
            </a:r>
            <a:r>
              <a:rPr lang="en-US" sz="1100" dirty="0">
                <a:solidFill>
                  <a:srgbClr val="B0BEC5"/>
                </a:solidFill>
              </a:rPr>
              <a:t> </a:t>
            </a:r>
            <a:r>
              <a:rPr lang="en-US" sz="1100" dirty="0" err="1">
                <a:solidFill>
                  <a:srgbClr val="B0BEC5"/>
                </a:solidFill>
              </a:rPr>
              <a:t>გავლენა</a:t>
            </a:r>
            <a:endParaRPr lang="ka-GE" sz="1100" dirty="0">
              <a:solidFill>
                <a:srgbClr val="B0BEC5"/>
              </a:solidFill>
            </a:endParaRPr>
          </a:p>
          <a:p>
            <a:br>
              <a:rPr lang="ka-GE" sz="1100" dirty="0">
                <a:solidFill>
                  <a:srgbClr val="B0BEC5"/>
                </a:solidFill>
              </a:rPr>
            </a:br>
            <a:r>
              <a:rPr lang="en-US" sz="1100" dirty="0">
                <a:solidFill>
                  <a:srgbClr val="B0BEC5"/>
                </a:solidFill>
              </a:rPr>
              <a:t>📋 TOP 10 </a:t>
            </a:r>
            <a:r>
              <a:rPr lang="ka-GE" sz="1100" dirty="0">
                <a:solidFill>
                  <a:srgbClr val="B0BEC5"/>
                </a:solidFill>
              </a:rPr>
              <a:t>მერჩანტი ბ</a:t>
            </a:r>
            <a:r>
              <a:rPr lang="en-US" sz="1100" dirty="0" err="1">
                <a:solidFill>
                  <a:srgbClr val="B0BEC5"/>
                </a:solidFill>
              </a:rPr>
              <a:t>აზრის</a:t>
            </a:r>
            <a:r>
              <a:rPr lang="en-US" sz="1100" dirty="0">
                <a:solidFill>
                  <a:srgbClr val="B0BEC5"/>
                </a:solidFill>
              </a:rPr>
              <a:t> 15%-ს </a:t>
            </a:r>
            <a:r>
              <a:rPr lang="en-US" sz="1100" dirty="0" err="1">
                <a:solidFill>
                  <a:srgbClr val="B0BEC5"/>
                </a:solidFill>
              </a:rPr>
              <a:t>აკონტროლებ</a:t>
            </a:r>
            <a:r>
              <a:rPr lang="ka-GE" sz="1100" dirty="0">
                <a:solidFill>
                  <a:srgbClr val="B0BEC5"/>
                </a:solidFill>
              </a:rPr>
              <a:t>ს</a:t>
            </a:r>
            <a:endParaRPr lang="en-US" sz="1100" dirty="0"/>
          </a:p>
          <a:p>
            <a:endParaRPr lang="ka-GE" sz="1100" dirty="0">
              <a:solidFill>
                <a:srgbClr val="B0BEC5"/>
              </a:solidFill>
            </a:endParaRPr>
          </a:p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36592" y="3557016"/>
            <a:ext cx="4297680" cy="1234440"/>
          </a:xfrm>
          <a:prstGeom prst="rect">
            <a:avLst/>
          </a:prstGeom>
          <a:solidFill>
            <a:srgbClr val="0F2744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36592" y="3557016"/>
            <a:ext cx="64008" cy="1234440"/>
          </a:xfrm>
          <a:prstGeom prst="rect">
            <a:avLst/>
          </a:prstGeom>
          <a:solidFill>
            <a:srgbClr val="BA68C8"/>
          </a:solidFill>
          <a:ln w="12700">
            <a:solidFill>
              <a:srgbClr val="BA68C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36027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422392" y="36301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A68C8"/>
                </a:solidFill>
              </a:rPr>
              <a:t>ფერი &amp; Badge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22392" y="399592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BEC5"/>
                </a:solidFill>
              </a:rPr>
              <a:t>შავი, თეთრი — დომინანტი. Product Quality badge — დამხმარე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914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C9A7"/>
                </a:solidFill>
              </a:rPr>
              <a:t>03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11887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200" dirty="0">
                <a:solidFill>
                  <a:srgbClr val="FFFFFF"/>
                </a:solidFill>
              </a:rPr>
              <a:t>SALES DRIVERS ANALYSIS</a:t>
            </a:r>
            <a:endParaRPr lang="en-US" sz="1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685800"/>
            <a:ext cx="8814816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BA68C8"/>
          </a:solidFill>
          <a:ln w="12700">
            <a:solidFill>
              <a:srgbClr val="BA68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914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BA68C8"/>
                </a:solidFill>
              </a:rPr>
              <a:t>04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11887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200" dirty="0">
                <a:solidFill>
                  <a:srgbClr val="FFFFFF"/>
                </a:solidFill>
              </a:rPr>
              <a:t>PRODUCT INSIGHTS — ფერი, TAG, ზომა</a:t>
            </a:r>
            <a:endParaRPr lang="en-US" sz="1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685800"/>
            <a:ext cx="8814816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914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66BB6A"/>
                </a:solidFill>
              </a:rPr>
              <a:t>05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11887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200" dirty="0">
                <a:solidFill>
                  <a:srgbClr val="FFFFFF"/>
                </a:solidFill>
              </a:rPr>
              <a:t>WINNING PRODUCT STRATEGY</a:t>
            </a:r>
            <a:endParaRPr lang="en-US" sz="1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685800"/>
            <a:ext cx="8814816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8411"/>
            <a:ext cx="9144000" cy="59436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914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66BB6A"/>
                </a:solidFill>
              </a:rPr>
              <a:t>06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11887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200" dirty="0">
                <a:solidFill>
                  <a:srgbClr val="FFFFFF"/>
                </a:solidFill>
              </a:rPr>
              <a:t>"PERFECT PRODUCT" პროფილი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64592" y="731520"/>
            <a:ext cx="8814816" cy="1188720"/>
          </a:xfrm>
          <a:prstGeom prst="rect">
            <a:avLst/>
          </a:prstGeom>
          <a:solidFill>
            <a:srgbClr val="0F2744"/>
          </a:solidFill>
          <a:ln w="25400">
            <a:solidFill>
              <a:srgbClr val="66BB6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8046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66BB6A"/>
                </a:solidFill>
              </a:rPr>
              <a:t>Winning Combination Formula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1430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High Reviews  +  Low Shipping  +  Low/Medium Price  +  Popular Colors  +  High Merchant Rating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64592" y="2084832"/>
            <a:ext cx="2834640" cy="1463040"/>
          </a:xfrm>
          <a:prstGeom prst="rect">
            <a:avLst/>
          </a:prstGeom>
          <a:solidFill>
            <a:srgbClr val="0F2744"/>
          </a:solidFill>
          <a:ln w="190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" y="21305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🏆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58952" y="21031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C9A7"/>
                </a:solidFill>
              </a:rPr>
              <a:t>22K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56032" y="27432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</a:rPr>
              <a:t>Winning Combination</a:t>
            </a:r>
            <a:endParaRPr lang="en-US" sz="1100" dirty="0"/>
          </a:p>
          <a:p>
            <a:pPr algn="ctr"/>
            <a:r>
              <a:rPr lang="en-US" sz="1100" dirty="0">
                <a:solidFill>
                  <a:srgbClr val="B0BEC5"/>
                </a:solidFill>
              </a:rPr>
              <a:t>Products</a:t>
            </a:r>
            <a:br>
              <a:rPr lang="ka-GE" sz="1100" dirty="0">
                <a:solidFill>
                  <a:srgbClr val="B0BEC5"/>
                </a:solidFill>
              </a:rPr>
            </a:br>
            <a:r>
              <a:rPr lang="en-US" sz="1000" dirty="0" err="1">
                <a:solidFill>
                  <a:srgbClr val="78909C"/>
                </a:solidFill>
              </a:rPr>
              <a:t>ამ</a:t>
            </a:r>
            <a:r>
              <a:rPr lang="en-US" sz="1000" dirty="0">
                <a:solidFill>
                  <a:srgbClr val="78909C"/>
                </a:solidFill>
              </a:rPr>
              <a:t> </a:t>
            </a:r>
            <a:r>
              <a:rPr lang="en-US" sz="1000" dirty="0" err="1">
                <a:solidFill>
                  <a:srgbClr val="78909C"/>
                </a:solidFill>
              </a:rPr>
              <a:t>კომბინაციის</a:t>
            </a:r>
            <a:r>
              <a:rPr lang="en-US" sz="1000" dirty="0">
                <a:solidFill>
                  <a:srgbClr val="78909C"/>
                </a:solidFill>
              </a:rPr>
              <a:t> </a:t>
            </a:r>
            <a:r>
              <a:rPr lang="en-US" sz="1000" dirty="0" err="1">
                <a:solidFill>
                  <a:srgbClr val="78909C"/>
                </a:solidFill>
              </a:rPr>
              <a:t>პროდუქტებს</a:t>
            </a:r>
            <a:r>
              <a:rPr lang="en-US" sz="1000" dirty="0">
                <a:solidFill>
                  <a:srgbClr val="78909C"/>
                </a:solidFill>
              </a:rPr>
              <a:t> </a:t>
            </a:r>
            <a:r>
              <a:rPr lang="en-US" sz="1000" dirty="0" err="1">
                <a:solidFill>
                  <a:srgbClr val="78909C"/>
                </a:solidFill>
              </a:rPr>
              <a:t>საშუალოდ</a:t>
            </a:r>
            <a:r>
              <a:rPr lang="en-US" sz="1000" dirty="0">
                <a:solidFill>
                  <a:srgbClr val="78909C"/>
                </a:solidFill>
              </a:rPr>
              <a:t> ~22,000 </a:t>
            </a:r>
            <a:r>
              <a:rPr lang="en-US" sz="1000" dirty="0" err="1">
                <a:solidFill>
                  <a:srgbClr val="78909C"/>
                </a:solidFill>
              </a:rPr>
              <a:t>ერთეული</a:t>
            </a:r>
            <a:r>
              <a:rPr lang="en-US" sz="1000" dirty="0">
                <a:solidFill>
                  <a:srgbClr val="78909C"/>
                </a:solidFill>
              </a:rPr>
              <a:t> </a:t>
            </a:r>
            <a:r>
              <a:rPr lang="en-US" sz="1000" dirty="0" err="1">
                <a:solidFill>
                  <a:srgbClr val="78909C"/>
                </a:solidFill>
              </a:rPr>
              <a:t>აქვთ</a:t>
            </a:r>
            <a:r>
              <a:rPr lang="en-US" sz="1000" dirty="0">
                <a:solidFill>
                  <a:srgbClr val="78909C"/>
                </a:solidFill>
              </a:rPr>
              <a:t> </a:t>
            </a:r>
            <a:r>
              <a:rPr lang="en-US" sz="1000" dirty="0" err="1">
                <a:solidFill>
                  <a:srgbClr val="78909C"/>
                </a:solidFill>
              </a:rPr>
              <a:t>გაყიდული</a:t>
            </a:r>
            <a:r>
              <a:rPr lang="en-US" sz="1000" dirty="0">
                <a:solidFill>
                  <a:srgbClr val="78909C"/>
                </a:solidFill>
              </a:rPr>
              <a:t> — </a:t>
            </a:r>
            <a:r>
              <a:rPr lang="en-US" sz="1000" dirty="0" err="1">
                <a:solidFill>
                  <a:srgbClr val="78909C"/>
                </a:solidFill>
              </a:rPr>
              <a:t>რაც</a:t>
            </a:r>
            <a:r>
              <a:rPr lang="en-US" sz="1000" dirty="0">
                <a:solidFill>
                  <a:srgbClr val="78909C"/>
                </a:solidFill>
              </a:rPr>
              <a:t> TOP 10-დან </a:t>
            </a:r>
            <a:r>
              <a:rPr lang="en-US" sz="1000" dirty="0" err="1">
                <a:solidFill>
                  <a:srgbClr val="78909C"/>
                </a:solidFill>
              </a:rPr>
              <a:t>ყველაზე</a:t>
            </a:r>
            <a:r>
              <a:rPr lang="en-US" sz="1000" dirty="0">
                <a:solidFill>
                  <a:srgbClr val="78909C"/>
                </a:solidFill>
              </a:rPr>
              <a:t> </a:t>
            </a:r>
            <a:r>
              <a:rPr lang="en-US" sz="1000" dirty="0" err="1">
                <a:solidFill>
                  <a:srgbClr val="78909C"/>
                </a:solidFill>
              </a:rPr>
              <a:t>მაღალი</a:t>
            </a:r>
            <a:r>
              <a:rPr lang="en-US" sz="1000" dirty="0">
                <a:solidFill>
                  <a:srgbClr val="78909C"/>
                </a:solidFill>
              </a:rPr>
              <a:t> </a:t>
            </a:r>
            <a:r>
              <a:rPr lang="en-US" sz="1000" dirty="0" err="1">
                <a:solidFill>
                  <a:srgbClr val="78909C"/>
                </a:solidFill>
              </a:rPr>
              <a:t>მაჩვენებელია</a:t>
            </a:r>
            <a:r>
              <a:rPr lang="en-US" sz="1050" dirty="0">
                <a:solidFill>
                  <a:srgbClr val="78909C"/>
                </a:solidFill>
              </a:rPr>
              <a:t>.</a:t>
            </a:r>
            <a:endParaRPr lang="en-US" sz="1050" dirty="0"/>
          </a:p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36392" y="2084832"/>
            <a:ext cx="2834640" cy="1463040"/>
          </a:xfrm>
          <a:prstGeom prst="rect">
            <a:avLst/>
          </a:prstGeom>
          <a:solidFill>
            <a:srgbClr val="0F2744"/>
          </a:solidFill>
          <a:ln w="1905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27832" y="21305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730752" y="21031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4FC3F7"/>
                </a:solidFill>
              </a:rPr>
              <a:t>365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3227832" y="27432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</a:rPr>
              <a:t>Ideal პროდუქტი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</a:rPr>
              <a:t>(perfect profile)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08192" y="2084832"/>
            <a:ext cx="2834640" cy="1463040"/>
          </a:xfrm>
          <a:prstGeom prst="rect">
            <a:avLst/>
          </a:prstGeom>
          <a:solidFill>
            <a:srgbClr val="0F2744"/>
          </a:solidFill>
          <a:ln w="19050">
            <a:solidFill>
              <a:srgbClr val="FFB3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99632" y="21305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702552" y="21031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B300"/>
                </a:solidFill>
              </a:rPr>
              <a:t>5.8x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199632" y="27432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</a:rPr>
              <a:t>Ideal vs Other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</a:rPr>
              <a:t>გაყიდვები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4592" y="3749040"/>
            <a:ext cx="8814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8EAABF"/>
                </a:solidFill>
              </a:rPr>
              <a:t>Ideal Profile = კარგი Merchant Rating  +  დაბალი Shipping  +  მაღალი Reviews Count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64592" y="4206240"/>
            <a:ext cx="8814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6BB6A"/>
                </a:solidFill>
              </a:rPr>
              <a:t>→ Ideal პროდუქტების საშ. გაყიდვები სხვა კატეგორიებს ~5-ჯერ აღემატება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914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B300"/>
                </a:solidFill>
              </a:rPr>
              <a:t>07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11887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200" dirty="0">
                <a:solidFill>
                  <a:srgbClr val="FFFFFF"/>
                </a:solidFill>
              </a:rPr>
              <a:t>TOP 10 &amp; ანომალიური პროდუქტები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64592" y="713232"/>
            <a:ext cx="5303520" cy="4114800"/>
          </a:xfrm>
          <a:prstGeom prst="rect">
            <a:avLst/>
          </a:prstGeom>
          <a:solidFill>
            <a:srgbClr val="0F2744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713232"/>
            <a:ext cx="5303520" cy="384048"/>
          </a:xfrm>
          <a:prstGeom prst="rect">
            <a:avLst/>
          </a:prstGeom>
          <a:solidFill>
            <a:srgbClr val="0A2E1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7498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6BB6A"/>
                </a:solidFill>
              </a:rPr>
              <a:t>TOP 10 — ყველაზე გაყიდვადი პროდუქტები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1887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BB6A"/>
                </a:solidFill>
              </a:rPr>
              <a:t>✅ High Reviews Count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16002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BB6A"/>
                </a:solidFill>
              </a:rPr>
              <a:t>✅ Low Shipping ($1–$3)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20116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BB6A"/>
                </a:solidFill>
              </a:rPr>
              <a:t>✅ Low/Medium Price ($5–$15)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24231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BB6A"/>
                </a:solidFill>
              </a:rPr>
              <a:t>✅ Popular Colors (Black, White, Blue)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28346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BB6A"/>
                </a:solidFill>
              </a:rPr>
              <a:t>✅ High Merchant Rating (4.0–4.49)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" y="32461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F5350"/>
                </a:solidFill>
              </a:rPr>
              <a:t>❌ ფასდაკლება — არ გავლენს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" y="36576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F5350"/>
                </a:solidFill>
              </a:rPr>
              <a:t>❌ Urgency ინდიკატორი — არ გავლენს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" y="40690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F5350"/>
                </a:solidFill>
              </a:rPr>
              <a:t>❌ Product Quality Badge — არ გავლენს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50992" y="713232"/>
            <a:ext cx="3328416" cy="4114800"/>
          </a:xfrm>
          <a:prstGeom prst="rect">
            <a:avLst/>
          </a:prstGeom>
          <a:solidFill>
            <a:srgbClr val="0F2744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50992" y="713232"/>
            <a:ext cx="3328416" cy="384048"/>
          </a:xfrm>
          <a:prstGeom prst="rect">
            <a:avLst/>
          </a:prstGeom>
          <a:solidFill>
            <a:srgbClr val="2E1A0A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42432" y="749808"/>
            <a:ext cx="3145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F5350"/>
                </a:solidFill>
              </a:rPr>
              <a:t>ანომალიური პროდუქტები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50992" y="1234440"/>
            <a:ext cx="3328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EF5350"/>
                </a:solidFill>
              </a:rPr>
              <a:t>15</a:t>
            </a:r>
            <a:endParaRPr lang="en-US" sz="5600" dirty="0"/>
          </a:p>
        </p:txBody>
      </p:sp>
      <p:sp>
        <p:nvSpPr>
          <p:cNvPr id="21" name="Text 19"/>
          <p:cNvSpPr/>
          <p:nvPr/>
        </p:nvSpPr>
        <p:spPr>
          <a:xfrm>
            <a:off x="5650992" y="1920240"/>
            <a:ext cx="3328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0BEC5"/>
                </a:solidFill>
              </a:rPr>
              <a:t>პროდუქტი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742432" y="2331720"/>
            <a:ext cx="314553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BEC5"/>
                </a:solidFill>
              </a:rPr>
              <a:t>სტანდარტული წარმატების ფორმულის გარეშე მაინც ავლენენ მაღალ გაყიდვებს.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0BEC5"/>
                </a:solidFill>
              </a:rPr>
              <a:t>
🔥 Know-how ან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0BEC5"/>
                </a:solidFill>
              </a:rPr>
              <a:t>🔥 ძალიან Trending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731520"/>
            <a:ext cx="45720" cy="4572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2011680"/>
            <a:ext cx="45720" cy="4572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0" y="3291840"/>
            <a:ext cx="45720" cy="4572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0" y="731520"/>
            <a:ext cx="45720" cy="4572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2011680"/>
            <a:ext cx="45720" cy="4572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52160" y="3291840"/>
            <a:ext cx="45720" cy="4572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75120" y="731520"/>
            <a:ext cx="45720" cy="4572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2011680"/>
            <a:ext cx="45720" cy="4572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0" y="3291840"/>
            <a:ext cx="45720" cy="4572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0" y="731520"/>
            <a:ext cx="45720" cy="4572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0" y="2011680"/>
            <a:ext cx="45720" cy="4572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3291840"/>
            <a:ext cx="45720" cy="4572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731520"/>
            <a:ext cx="45720" cy="4572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2011680"/>
            <a:ext cx="45720" cy="4572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3291840"/>
            <a:ext cx="45720" cy="4572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274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0C9A7"/>
                </a:solidFill>
              </a:rPr>
              <a:t>CONCLUSIONS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2880" y="6400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საბოლოო დასკვნები</a:t>
            </a:r>
            <a:endParaRPr lang="en-US" sz="3600" dirty="0"/>
          </a:p>
        </p:txBody>
      </p:sp>
      <p:sp>
        <p:nvSpPr>
          <p:cNvPr id="20" name="Shape 18"/>
          <p:cNvSpPr/>
          <p:nvPr/>
        </p:nvSpPr>
        <p:spPr>
          <a:xfrm>
            <a:off x="182880" y="1508760"/>
            <a:ext cx="8778240" cy="713232"/>
          </a:xfrm>
          <a:prstGeom prst="rect">
            <a:avLst/>
          </a:prstGeom>
          <a:solidFill>
            <a:srgbClr val="0F2744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82880" y="1508760"/>
            <a:ext cx="64008" cy="7132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1581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C9A7"/>
                </a:solidFill>
              </a:rPr>
              <a:t>01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68680" y="166420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</a:rPr>
              <a:t>$5–$10 ფასი + $1–$3 შიპინგი = ოპტიმალური კომბინაცია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82880" y="2331720"/>
            <a:ext cx="8778240" cy="713232"/>
          </a:xfrm>
          <a:prstGeom prst="rect">
            <a:avLst/>
          </a:prstGeom>
          <a:solidFill>
            <a:srgbClr val="0F2744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82880" y="2331720"/>
            <a:ext cx="64008" cy="7132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404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FC3F7"/>
                </a:solidFill>
              </a:rPr>
              <a:t>02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68680" y="24871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</a:rPr>
              <a:t>მომხმარებელთა ნდობა (Reviews + Merchant Rating) — ყველაზე ძლიერი ფაქტორი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82880" y="3154680"/>
            <a:ext cx="8778240" cy="713232"/>
          </a:xfrm>
          <a:prstGeom prst="rect">
            <a:avLst/>
          </a:prstGeom>
          <a:solidFill>
            <a:srgbClr val="0F2744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82880" y="3154680"/>
            <a:ext cx="64008" cy="71323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3227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B300"/>
                </a:solidFill>
              </a:rPr>
              <a:t>03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68680" y="33101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</a:rPr>
              <a:t>ფასდაკლება და Urgency — გადამწყვეტი ფაქტორი არ არის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82880" y="3977640"/>
            <a:ext cx="8778240" cy="713232"/>
          </a:xfrm>
          <a:prstGeom prst="rect">
            <a:avLst/>
          </a:prstGeom>
          <a:solidFill>
            <a:srgbClr val="0F2744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82880" y="3977640"/>
            <a:ext cx="64008" cy="713232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4050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6BB6A"/>
                </a:solidFill>
              </a:rPr>
              <a:t>04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868680" y="413308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</a:rPr>
              <a:t>Ideal პროდუქტის გაყიდვები 5.8x აჭარბებს სხვებს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82880" y="4663440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</a:rPr>
              <a:t>High Reviews + Low Shipping + Low/Medium Price + Popular Colors + High Merchant Rating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HeaderLabel"/>
          <p:cNvSpPr/>
          <p:nvPr/>
        </p:nvSpPr>
        <p:spPr>
          <a:xfrm>
            <a:off x="182880" y="180000"/>
            <a:ext cx="82296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30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EXECUTIVE SUMMARY</a:t>
            </a:r>
          </a:p>
        </p:txBody>
      </p:sp>
      <p:sp>
        <p:nvSpPr>
          <p:cNvPr id="4" name="MainTitle"/>
          <p:cNvSpPr/>
          <p:nvPr/>
        </p:nvSpPr>
        <p:spPr>
          <a:xfrm>
            <a:off x="182880" y="450000"/>
            <a:ext cx="8229600" cy="5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a-GE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ylfaen" panose="010A0502050306030303" pitchFamily="18" charset="0"/>
                <a:ea typeface="+mn-ea"/>
                <a:cs typeface="+mn-cs"/>
              </a:rPr>
              <a:t>სტრატეგიული რეკომენდაციები</a:t>
            </a:r>
          </a:p>
        </p:txBody>
      </p:sp>
      <p:sp>
        <p:nvSpPr>
          <p:cNvPr id="5" name="Block1"/>
          <p:cNvSpPr/>
          <p:nvPr/>
        </p:nvSpPr>
        <p:spPr>
          <a:xfrm>
            <a:off x="182880" y="1080000"/>
            <a:ext cx="8746328" cy="3854078"/>
          </a:xfrm>
          <a:prstGeom prst="rect">
            <a:avLst/>
          </a:prstGeom>
          <a:solidFill>
            <a:srgbClr val="0F2744"/>
          </a:solidFill>
          <a:ln w="19050">
            <a:solidFill>
              <a:srgbClr val="00C9A7"/>
            </a:solidFill>
          </a:ln>
          <a:effectLst>
            <a:outerShdw blurRad="76200" dist="25400" dir="8100000" rotWithShape="0">
              <a:srgbClr val="000000">
                <a:alpha val="35000"/>
              </a:srgbClr>
            </a:outerShdw>
          </a:effectLst>
        </p:spPr>
        <p:txBody>
          <a:bodyPr wrap="square" lIns="228600" tIns="182880" rIns="228600" bIns="18288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a-GE" sz="11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Sylfaen" panose="010A0502050306030303" pitchFamily="18" charset="0"/>
                <a:ea typeface="+mn-ea"/>
                <a:cs typeface="+mn-cs"/>
              </a:rPr>
              <a:t>“</a:t>
            </a:r>
            <a:r>
              <a:rPr kumimoji="0" lang="ka-GE" sz="12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Sylfaen" panose="010A0502050306030303" pitchFamily="18" charset="0"/>
                <a:ea typeface="+mn-ea"/>
                <a:cs typeface="+mn-cs"/>
              </a:rPr>
              <a:t>Trust Stack” პრიორიტეტი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a-GE" sz="1100" b="0" i="1" u="none" strike="noStrike" kern="1200" cap="none" spc="0" normalizeH="0" baseline="0" noProof="0" dirty="0">
                <a:ln>
                  <a:noFill/>
                </a:ln>
                <a:solidFill>
                  <a:srgbClr val="8EAABF"/>
                </a:solidFill>
                <a:effectLst/>
                <a:uLnTx/>
                <a:uFillTx/>
                <a:latin typeface="Sylfaen" panose="010A0502050306030303" pitchFamily="18" charset="0"/>
                <a:ea typeface="+mn-ea"/>
                <a:cs typeface="+mn-cs"/>
              </a:rPr>
              <a:t>Wish-ზე მომხმარებელი ყიდულობს არა ნივთს, არამედ ნდობას.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a-GE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ylfaen" panose="010A0502050306030303" pitchFamily="18" charset="0"/>
                <a:ea typeface="+mn-ea"/>
                <a:cs typeface="+mn-cs"/>
              </a:rPr>
              <a:t>ქმედება:  </a:t>
            </a:r>
            <a:r>
              <a:rPr kumimoji="0" lang="ka-GE" sz="11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Sylfaen" panose="010A0502050306030303" pitchFamily="18" charset="0"/>
                <a:ea typeface="+mn-ea"/>
                <a:cs typeface="+mn-cs"/>
              </a:rPr>
              <a:t>3-6 თვის მთავარი KPI უნდა იყოს Reviews Count და Merchant Rating, თუნდაც მოგების მარჟის (Margin) დროებითი შემცირების ხარჯზე.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B0BEC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a-GE" sz="1100" b="0" i="0" u="none" strike="noStrike" kern="1200" cap="none" spc="0" normalizeH="0" baseline="0" noProof="0" dirty="0">
              <a:ln>
                <a:noFill/>
              </a:ln>
              <a:solidFill>
                <a:srgbClr val="B0BEC5"/>
              </a:solidFill>
              <a:effectLst/>
              <a:uLnTx/>
              <a:uFillTx/>
              <a:latin typeface="Sylfaen" panose="010A0502050306030303" pitchFamily="18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a-GE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ylfaen" panose="010A0502050306030303" pitchFamily="18" charset="0"/>
                <a:ea typeface="+mn-ea"/>
                <a:cs typeface="+mn-cs"/>
              </a:rPr>
              <a:t>შედეგი: </a:t>
            </a:r>
            <a:r>
              <a:rPr kumimoji="0" lang="ka-GE" sz="11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Sylfaen" panose="010A0502050306030303" pitchFamily="18" charset="0"/>
                <a:ea typeface="+mn-ea"/>
                <a:cs typeface="+mn-cs"/>
              </a:rPr>
              <a:t>მაღალი რეიტინგი არის ერთადერთი გზა იმ 5.8x ზრდისკენ, რომელიც ჩვენმა მოდელმა აჩვენა.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a-GE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ylfaen" panose="010A0502050306030303" pitchFamily="18" charset="0"/>
                <a:ea typeface="+mn-ea"/>
                <a:cs typeface="+mn-cs"/>
              </a:rPr>
              <a:t>ბიუჯეტის რეალოკაცია: </a:t>
            </a:r>
            <a:r>
              <a:rPr kumimoji="0" lang="ka-GE" sz="11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Sylfaen" panose="010A0502050306030303" pitchFamily="18" charset="0"/>
                <a:ea typeface="+mn-ea"/>
                <a:cs typeface="+mn-cs"/>
              </a:rPr>
              <a:t>ფასდაკლების ნაცვლად რესურსი მიმართეთ Shipping-ის სუბსიდირებაზე ($1–$3) და  პოსტ-გაყიდვის (Post-purchase) რევიუების კამპანიაზე.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B0BEC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a-GE" sz="1100" b="0" i="0" u="none" strike="noStrike" kern="1200" cap="none" spc="0" normalizeH="0" baseline="0" noProof="0" dirty="0">
              <a:ln>
                <a:noFill/>
              </a:ln>
              <a:solidFill>
                <a:srgbClr val="B0BEC5"/>
              </a:solidFill>
              <a:effectLst/>
              <a:uLnTx/>
              <a:uFillTx/>
              <a:latin typeface="Sylfaen" panose="010A0502050306030303" pitchFamily="18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a-GE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ylfaen" panose="010A0502050306030303" pitchFamily="18" charset="0"/>
                <a:ea typeface="+mn-ea"/>
                <a:cs typeface="+mn-cs"/>
              </a:rPr>
              <a:t>გადაწყვეტილება: </a:t>
            </a:r>
            <a:r>
              <a:rPr kumimoji="0" lang="ka-GE" sz="11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Sylfaen" panose="010A0502050306030303" pitchFamily="18" charset="0"/>
                <a:ea typeface="+mn-ea"/>
                <a:cs typeface="+mn-cs"/>
              </a:rPr>
              <a:t>თუ პროდუქტის თვითღირებულება $15-ზე მაღალ ფასს მოითხოვს, Wish არ არის სწორი არხი. $15+ სეგმენტში მყიდველი გადადის “ვერიფიკაციის მოუდში” და ადარებს Amazon-ს, სადაც ჩვენი კონკურენტუნარიანობა იკლებს.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a-GE" sz="1100" b="0" i="0" u="none" strike="noStrike" kern="1200" cap="none" spc="0" normalizeH="0" baseline="0" noProof="0" dirty="0">
              <a:ln>
                <a:noFill/>
              </a:ln>
              <a:solidFill>
                <a:srgbClr val="B0BEC5"/>
              </a:solidFill>
              <a:effectLst/>
              <a:uLnTx/>
              <a:uFillTx/>
              <a:latin typeface="Sylfaen" panose="010A0502050306030303" pitchFamily="18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a-GE" sz="1200" b="1" i="0" u="none" strike="noStrike" kern="1200" cap="none" spc="0" normalizeH="0" baseline="0" noProof="0" dirty="0">
                <a:ln>
                  <a:noFill/>
                </a:ln>
                <a:solidFill>
                  <a:srgbClr val="FFB74D"/>
                </a:solidFill>
                <a:effectLst/>
                <a:uLnTx/>
                <a:uFillTx/>
                <a:latin typeface="Sylfaen" panose="010A0502050306030303" pitchFamily="18" charset="0"/>
                <a:ea typeface="+mn-ea"/>
                <a:cs typeface="+mn-cs"/>
              </a:rPr>
              <a:t>ანომალიური 15 პროდუქტი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a-GE" sz="1100" b="0" i="1" u="none" strike="noStrike" kern="1200" cap="none" spc="0" normalizeH="0" baseline="0" noProof="0" dirty="0">
                <a:ln>
                  <a:noFill/>
                </a:ln>
                <a:solidFill>
                  <a:srgbClr val="8EAABF"/>
                </a:solidFill>
                <a:effectLst/>
                <a:uLnTx/>
                <a:uFillTx/>
                <a:latin typeface="Sylfaen" panose="010A0502050306030303" pitchFamily="18" charset="0"/>
                <a:ea typeface="+mn-ea"/>
                <a:cs typeface="+mn-cs"/>
              </a:rPr>
              <a:t>ის 15 პროდუქტი, რომელიც “წესების გარეშე” იყიდება, ჩვენი ყველაზე ძვირფასი მონაცემია.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a-GE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ylfaen" panose="010A0502050306030303" pitchFamily="18" charset="0"/>
                <a:ea typeface="+mn-ea"/>
                <a:cs typeface="+mn-cs"/>
              </a:rPr>
              <a:t>დავალება: </a:t>
            </a:r>
            <a:r>
              <a:rPr kumimoji="0" lang="ka-GE" sz="11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Sylfaen" panose="010A0502050306030303" pitchFamily="18" charset="0"/>
                <a:ea typeface="+mn-ea"/>
                <a:cs typeface="+mn-cs"/>
              </a:rPr>
              <a:t>ამ პროდუქტების დეტალური “ხელით” ანალიზი (Viral trends, Niche analysis). ეს დაგვეხმარება შემდეგი 6 თვის პროდუქტ-სტრატეგიის დაგეგმვაში.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a-GE" sz="1100" b="0" i="0" u="none" strike="noStrike" kern="1200" cap="none" spc="0" normalizeH="0" baseline="0" noProof="0" dirty="0">
              <a:ln>
                <a:noFill/>
              </a:ln>
              <a:solidFill>
                <a:srgbClr val="B0BEC5"/>
              </a:solidFill>
              <a:effectLst/>
              <a:uLnTx/>
              <a:uFillTx/>
              <a:latin typeface="Sylfaen" panose="010A0502050306030303" pitchFamily="18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B74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90-დღიანი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FFB74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სამოქმედო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B74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FFB74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გეგმა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B74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a-GE" sz="1100" b="1" i="0" u="none" strike="noStrike" kern="1200" cap="none" spc="0" normalizeH="0" baseline="0" noProof="0" dirty="0">
                <a:ln>
                  <a:noFill/>
                </a:ln>
                <a:solidFill>
                  <a:srgbClr val="00C9A7"/>
                </a:solidFill>
                <a:effectLst/>
                <a:uLnTx/>
                <a:uFillTx/>
                <a:latin typeface="Sylfaen" panose="010A0502050306030303" pitchFamily="18" charset="0"/>
                <a:ea typeface="+mn-ea"/>
                <a:cs typeface="+mn-cs"/>
              </a:rPr>
              <a:t>0–30 დღე:  </a:t>
            </a:r>
            <a:r>
              <a:rPr kumimoji="0" lang="ka-GE" sz="11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Sylfaen" panose="010A0502050306030303" pitchFamily="18" charset="0"/>
                <a:ea typeface="+mn-ea"/>
                <a:cs typeface="+mn-cs"/>
              </a:rPr>
              <a:t>“Winning Combination” ფორმულის ტესტირება (5–10 პროდუქტი).</a:t>
            </a:r>
          </a:p>
          <a:p>
            <a:pPr marL="2286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a-GE" sz="1100" b="1" i="0" u="none" strike="noStrike" kern="1200" cap="none" spc="0" normalizeH="0" baseline="0" noProof="0" dirty="0">
                <a:ln>
                  <a:noFill/>
                </a:ln>
                <a:solidFill>
                  <a:srgbClr val="66BB6A"/>
                </a:solidFill>
                <a:effectLst/>
                <a:uLnTx/>
                <a:uFillTx/>
                <a:latin typeface="Sylfaen" panose="010A0502050306030303" pitchFamily="18" charset="0"/>
                <a:ea typeface="+mn-ea"/>
                <a:cs typeface="+mn-cs"/>
              </a:rPr>
              <a:t>30–60 დღე:  </a:t>
            </a:r>
            <a:r>
              <a:rPr kumimoji="0" lang="ka-GE" sz="11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Sylfaen" panose="010A0502050306030303" pitchFamily="18" charset="0"/>
                <a:ea typeface="+mn-ea"/>
                <a:cs typeface="+mn-cs"/>
              </a:rPr>
              <a:t>რევიუების მასის დაგროვება ყველაზე პერსპექტიულ მოდელებზე.</a:t>
            </a:r>
          </a:p>
          <a:p>
            <a:pPr marL="2286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a-GE" sz="1100" b="1" i="0" u="none" strike="noStrike" kern="1200" cap="none" spc="0" normalizeH="0" baseline="0" noProof="0" dirty="0">
                <a:ln>
                  <a:noFill/>
                </a:ln>
                <a:solidFill>
                  <a:srgbClr val="EF5350"/>
                </a:solidFill>
                <a:effectLst/>
                <a:uLnTx/>
                <a:uFillTx/>
                <a:latin typeface="Sylfaen" panose="010A0502050306030303" pitchFamily="18" charset="0"/>
                <a:ea typeface="+mn-ea"/>
                <a:cs typeface="+mn-cs"/>
              </a:rPr>
              <a:t>60–90 დღე:  </a:t>
            </a:r>
            <a:r>
              <a:rPr kumimoji="0" lang="ka-GE" sz="1100" b="0" i="0" u="none" strike="noStrike" kern="1200" cap="none" spc="0" normalizeH="0" baseline="0" noProof="0" dirty="0">
                <a:ln>
                  <a:noFill/>
                </a:ln>
                <a:solidFill>
                  <a:srgbClr val="B0BEC5"/>
                </a:solidFill>
                <a:effectLst/>
                <a:uLnTx/>
                <a:uFillTx/>
                <a:latin typeface="Sylfaen" panose="010A0502050306030303" pitchFamily="18" charset="0"/>
                <a:ea typeface="+mn-ea"/>
                <a:cs typeface="+mn-cs"/>
              </a:rPr>
              <a:t>ანომალიური მონაცემების საფუძველზე ახალი ნიშების ათვისება.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a-GE" sz="800" b="0" i="0" u="none" strike="noStrike" kern="1200" cap="none" spc="0" normalizeH="0" baseline="0" noProof="0" dirty="0">
              <a:ln>
                <a:noFill/>
              </a:ln>
              <a:solidFill>
                <a:srgbClr val="B0BEC5"/>
              </a:solidFill>
              <a:effectLst/>
              <a:uLnTx/>
              <a:uFillTx/>
              <a:latin typeface="Sylfaen" panose="010A0502050306030303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555</Words>
  <Application>Microsoft Office PowerPoint</Application>
  <PresentationFormat>On-screen Show (16:9)</PresentationFormat>
  <Paragraphs>123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Sylfaen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Wish Products Analysis</dc:title>
  <dc:subject>PptxGenJS Presentation</dc:subject>
  <dc:creator>PptxGenJS</dc:creator>
  <cp:lastModifiedBy>home</cp:lastModifiedBy>
  <cp:revision>3</cp:revision>
  <dcterms:created xsi:type="dcterms:W3CDTF">2026-03-15T15:27:07Z</dcterms:created>
  <dcterms:modified xsi:type="dcterms:W3CDTF">2026-03-16T12:47:13Z</dcterms:modified>
</cp:coreProperties>
</file>